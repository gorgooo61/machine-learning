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7" r:id="rId7"/>
    <p:sldId id="268" r:id="rId8"/>
    <p:sldId id="269" r:id="rId9"/>
    <p:sldId id="270" r:id="rId10"/>
    <p:sldId id="272" r:id="rId11"/>
    <p:sldId id="271" r:id="rId12"/>
    <p:sldId id="273" r:id="rId13"/>
    <p:sldId id="274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94D"/>
    <a:srgbClr val="9AD1F0"/>
    <a:srgbClr val="FCAF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6FD15-60BD-448E-93F3-E9C0354025CB}" type="datetimeFigureOut">
              <a:rPr lang="hu-HU" smtClean="0"/>
              <a:t>2024. 12. 11.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A67F-A7A0-4250-B5C2-9F4A9845DC9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23506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779A9-2F62-41F1-8D39-20DA253901A2}" type="datetimeFigureOut">
              <a:rPr lang="hu-HU" smtClean="0"/>
              <a:t>2024. 12. 11.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21E38-7EB9-41BA-9711-131DF6B1D9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45882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21E38-7EB9-41BA-9711-131DF6B1D9C1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8011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520" y="840261"/>
            <a:ext cx="8777574" cy="2347781"/>
          </a:xfrm>
          <a:prstGeom prst="rect">
            <a:avLst/>
          </a:prstGeo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Téma címe magyarul</a:t>
            </a:r>
            <a:endParaRPr lang="en-US"/>
          </a:p>
        </p:txBody>
      </p:sp>
      <p:sp>
        <p:nvSpPr>
          <p:cNvPr id="9" name="Szöveg helye 5"/>
          <p:cNvSpPr>
            <a:spLocks noGrp="1"/>
          </p:cNvSpPr>
          <p:nvPr>
            <p:ph type="body" sz="quarter" idx="13" hasCustomPrompt="1"/>
          </p:nvPr>
        </p:nvSpPr>
        <p:spPr>
          <a:xfrm>
            <a:off x="156519" y="3703170"/>
            <a:ext cx="8777575" cy="9786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buFontTx/>
              <a:buNone/>
              <a:defRPr sz="24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/>
              <a:t>Mesterséges Intelligencia specializáció</a:t>
            </a:r>
          </a:p>
          <a:p>
            <a:pPr lvl="0"/>
            <a:r>
              <a:rPr lang="hu-HU"/>
              <a:t>Gipsz Jakab – N3PK0D</a:t>
            </a:r>
          </a:p>
        </p:txBody>
      </p:sp>
      <p:sp>
        <p:nvSpPr>
          <p:cNvPr id="10" name="Szöveg helye 5"/>
          <p:cNvSpPr>
            <a:spLocks noGrp="1"/>
          </p:cNvSpPr>
          <p:nvPr>
            <p:ph type="body" sz="quarter" idx="14" hasCustomPrompt="1"/>
          </p:nvPr>
        </p:nvSpPr>
        <p:spPr>
          <a:xfrm>
            <a:off x="2378754" y="5196960"/>
            <a:ext cx="4333104" cy="8490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/>
              <a:t>Mentor</a:t>
            </a:r>
            <a:br>
              <a:rPr lang="hu-HU"/>
            </a:br>
            <a:r>
              <a:rPr lang="hu-HU"/>
              <a:t>Prof. Dr. Vezetéknév Keresztnév</a:t>
            </a:r>
          </a:p>
          <a:p>
            <a:pPr lvl="0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463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zakaszfejléc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56518" y="1630663"/>
            <a:ext cx="8777575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93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zakaszfejléc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56519" y="3395878"/>
            <a:ext cx="8777575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8" y="1668657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10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08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7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62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8" y="1668657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5" y="3395878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7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13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518" y="1726557"/>
            <a:ext cx="8777575" cy="44813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67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ím és tartalom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518" y="1726557"/>
            <a:ext cx="8777575" cy="44813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28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922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48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2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9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355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736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868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977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FCAF17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1576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Összehasonlítás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9AD1F0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40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3804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4991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>
              <a:defRPr sz="3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Első szint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542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56518" y="1660654"/>
            <a:ext cx="8777575" cy="461319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8614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56519" y="696827"/>
            <a:ext cx="8777575" cy="57960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765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64757" y="827478"/>
            <a:ext cx="8769337" cy="2730836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64757" y="3566984"/>
            <a:ext cx="8769337" cy="2730836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4014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691978"/>
            <a:ext cx="4401978" cy="580089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30138" y="691977"/>
            <a:ext cx="4401978" cy="580089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218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840261"/>
            <a:ext cx="4401978" cy="377434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4" hasCustomPrompt="1"/>
          </p:nvPr>
        </p:nvSpPr>
        <p:spPr>
          <a:xfrm>
            <a:off x="156519" y="840261"/>
            <a:ext cx="4375597" cy="377434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480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426941" y="2061455"/>
            <a:ext cx="5507153" cy="381158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2061455"/>
            <a:ext cx="325072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Diacím szerkesztése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5176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601730" y="1716492"/>
            <a:ext cx="3332364" cy="450151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8" y="1716492"/>
            <a:ext cx="5445211" cy="4501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>
                <a:solidFill>
                  <a:schemeClr val="bg1"/>
                </a:solidFill>
              </a:rPr>
              <a:t>Diacím szerkesztése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7988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840261"/>
            <a:ext cx="4401978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840263"/>
            <a:ext cx="4375598" cy="2685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4532116" y="3542270"/>
            <a:ext cx="4401978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56520" y="3542270"/>
            <a:ext cx="4375596" cy="26855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Diaszöveg szerkesztése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0272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 txBox="1">
            <a:spLocks/>
          </p:cNvSpPr>
          <p:nvPr userDrawn="1"/>
        </p:nvSpPr>
        <p:spPr>
          <a:xfrm>
            <a:off x="4556434" y="3533910"/>
            <a:ext cx="4377659" cy="26857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u-HU"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</p:txBody>
      </p:sp>
      <p:sp>
        <p:nvSpPr>
          <p:cNvPr id="1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56434" y="840261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54457" y="3525797"/>
            <a:ext cx="4401977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A kép beszúrásához kattintson az ikonra</a:t>
            </a:r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 txBox="1">
            <a:spLocks/>
          </p:cNvSpPr>
          <p:nvPr userDrawn="1"/>
        </p:nvSpPr>
        <p:spPr>
          <a:xfrm>
            <a:off x="154457" y="836016"/>
            <a:ext cx="4377659" cy="26857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u-HU"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130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Második szint</a:t>
            </a:r>
          </a:p>
          <a:p>
            <a:pPr lvl="0"/>
            <a:endParaRPr lang="hu-HU"/>
          </a:p>
          <a:p>
            <a:pPr lvl="0"/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/>
              <a:t>Második szint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>
                <a:solidFill>
                  <a:schemeClr val="bg1"/>
                </a:solidFill>
              </a:rPr>
              <a:t>Diacím szerkesztése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0939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171450" indent="0" algn="just">
              <a:lnSpc>
                <a:spcPct val="150000"/>
              </a:lnSpc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80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/>
              <a:t>Diaszöveg szerkesztése</a:t>
            </a:r>
          </a:p>
          <a:p>
            <a:pPr lvl="0"/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/>
              <a:t>Diaszöveg szerkesztése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>
                <a:solidFill>
                  <a:schemeClr val="bg1"/>
                </a:solidFill>
              </a:rPr>
              <a:t>Diacím szerkesztése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2024. december 11.</a:t>
            </a:fld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0485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742950" y="3163329"/>
            <a:ext cx="7772400" cy="799071"/>
          </a:xfrm>
          <a:prstGeom prst="rect">
            <a:avLst/>
          </a:prstGeom>
        </p:spPr>
        <p:txBody>
          <a:bodyPr anchor="b"/>
          <a:lstStyle>
            <a:lvl1pPr algn="ctr">
              <a:defRPr sz="4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/>
              <a:t>KÖSZÖNÖM A FIGYELMET!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2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2" y="104582"/>
            <a:ext cx="2808626" cy="4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7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2" r:id="rId18"/>
    <p:sldLayoutId id="2147483853" r:id="rId19"/>
    <p:sldLayoutId id="2147483854" r:id="rId20"/>
    <p:sldLayoutId id="2147483856" r:id="rId21"/>
    <p:sldLayoutId id="2147483857" r:id="rId22"/>
    <p:sldLayoutId id="2147483858" r:id="rId23"/>
    <p:sldLayoutId id="2147483859" r:id="rId24"/>
    <p:sldLayoutId id="2147483860" r:id="rId25"/>
    <p:sldLayoutId id="2147483861" r:id="rId26"/>
    <p:sldLayoutId id="2147483862" r:id="rId27"/>
    <p:sldLayoutId id="2147483863" r:id="rId28"/>
    <p:sldLayoutId id="2147483864" r:id="rId29"/>
    <p:sldLayoutId id="2147483865" r:id="rId30"/>
    <p:sldLayoutId id="2147483866" r:id="rId31"/>
    <p:sldLayoutId id="2147483867" r:id="rId32"/>
    <p:sldLayoutId id="2147483868" r:id="rId33"/>
    <p:sldLayoutId id="2147483869" r:id="rId3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FF00-4778-5843-C6A6-1D9F97992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212" y="1156515"/>
            <a:ext cx="8777574" cy="2217082"/>
          </a:xfrm>
        </p:spPr>
        <p:txBody>
          <a:bodyPr/>
          <a:lstStyle/>
          <a:p>
            <a:r>
              <a:rPr lang="hu-HU" sz="3600" dirty="0"/>
              <a:t>Használt autó ár </a:t>
            </a:r>
            <a:r>
              <a:rPr lang="hu-HU" sz="3600" dirty="0" err="1"/>
              <a:t>predikció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D2966-38EE-C705-096F-316421F07F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12" y="4520606"/>
            <a:ext cx="8777575" cy="978662"/>
          </a:xfrm>
        </p:spPr>
        <p:txBody>
          <a:bodyPr/>
          <a:lstStyle/>
          <a:p>
            <a:r>
              <a:rPr lang="hu-HU" dirty="0"/>
              <a:t>Bevezetés a gépi tanulásba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3B59A-9417-E998-DC6F-619640B3C5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05448" y="5499268"/>
            <a:ext cx="4333104" cy="1147009"/>
          </a:xfrm>
        </p:spPr>
        <p:txBody>
          <a:bodyPr/>
          <a:lstStyle/>
          <a:p>
            <a:endParaRPr lang="hu-HU" sz="1800" dirty="0"/>
          </a:p>
          <a:p>
            <a:r>
              <a:rPr lang="hu-HU" sz="1800" dirty="0"/>
              <a:t>Magyari Gergely</a:t>
            </a:r>
          </a:p>
        </p:txBody>
      </p:sp>
    </p:spTree>
    <p:extLst>
      <p:ext uri="{BB962C8B-B14F-4D97-AF65-F5344CB8AC3E}">
        <p14:creationId xmlns:p14="http://schemas.microsoft.com/office/powerpoint/2010/main" val="235972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035273A6-BFC3-7269-3F2B-BE3A130F4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 err="1"/>
              <a:t>Dataset</a:t>
            </a:r>
            <a:r>
              <a:rPr lang="hu-HU" b="1" dirty="0"/>
              <a:t> bemutatása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DCF80B2-E0D0-7394-C63A-15AE1BB655F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2"/>
            <a:ext cx="8140588" cy="2907957"/>
          </a:xfrm>
        </p:spPr>
        <p:txBody>
          <a:bodyPr/>
          <a:lstStyle/>
          <a:p>
            <a:r>
              <a:rPr lang="hu-HU" b="1" dirty="0" err="1"/>
              <a:t>Kaggle</a:t>
            </a:r>
            <a:r>
              <a:rPr lang="hu-HU" b="1" dirty="0"/>
              <a:t>: ok </a:t>
            </a:r>
            <a:r>
              <a:rPr lang="hu-HU" b="1" dirty="0" err="1"/>
              <a:t>invalid</a:t>
            </a:r>
            <a:r>
              <a:rPr lang="hu-HU" b="1" dirty="0"/>
              <a:t>/</a:t>
            </a:r>
            <a:r>
              <a:rPr lang="hu-HU" b="1" dirty="0" err="1"/>
              <a:t>inkonizisztens</a:t>
            </a:r>
            <a:r>
              <a:rPr lang="hu-HU" b="1" dirty="0"/>
              <a:t> adatot tartalmazó </a:t>
            </a:r>
            <a:r>
              <a:rPr lang="hu-HU" b="1" dirty="0" err="1"/>
              <a:t>dataset</a:t>
            </a:r>
            <a:r>
              <a:rPr lang="hu-HU" b="1" dirty="0"/>
              <a:t> (</a:t>
            </a:r>
            <a:r>
              <a:rPr lang="hu-HU" b="1" dirty="0" err="1"/>
              <a:t>pl</a:t>
            </a:r>
            <a:r>
              <a:rPr lang="hu-HU" b="1" dirty="0"/>
              <a:t>: Suzuki Swift - $200000)</a:t>
            </a:r>
          </a:p>
          <a:p>
            <a:r>
              <a:rPr lang="hu-HU" b="1" dirty="0"/>
              <a:t>Az általam választott  </a:t>
            </a:r>
            <a:r>
              <a:rPr lang="hu-HU" b="1" dirty="0" err="1"/>
              <a:t>dataset</a:t>
            </a:r>
            <a:r>
              <a:rPr lang="hu-HU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Amerikai piac alapján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Valid adatok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8F490769-F8A2-A3EB-76D0-882EBB62E4D0}"/>
              </a:ext>
            </a:extLst>
          </p:cNvPr>
          <p:cNvSpPr txBox="1"/>
          <p:nvPr/>
        </p:nvSpPr>
        <p:spPr>
          <a:xfrm>
            <a:off x="156518" y="3547135"/>
            <a:ext cx="8686772" cy="2693045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brand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Audi)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A4)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model_year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2012)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mileage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34,742 mi.)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fuel_type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gasoline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engine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130.0HP 1.9L TDI)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transmission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6-Speed A/T)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ext_col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Moonlight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Cloud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int_col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Black)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accident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least 1 accident or damage reported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clean_title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Yes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price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hu-H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</a:t>
            </a: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$11,000)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1578117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66E2-070F-E9C6-D327-200F507A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91CCEF5E-240C-51AE-4B95-0784AEF47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/>
              <a:t>Adatelőkészítés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1726F7F-5BCF-C30E-D77E-C26EEFAAAF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2"/>
            <a:ext cx="8140588" cy="2907957"/>
          </a:xfrm>
        </p:spPr>
        <p:txBody>
          <a:bodyPr/>
          <a:lstStyle/>
          <a:p>
            <a:r>
              <a:rPr lang="hu-HU" b="1" dirty="0"/>
              <a:t>Null értékek kezelése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fuel_type</a:t>
            </a:r>
            <a:r>
              <a:rPr lang="hu-HU" dirty="0"/>
              <a:t> (üres-&gt;elektromos, </a:t>
            </a:r>
            <a:r>
              <a:rPr lang="hu-HU" dirty="0" err="1"/>
              <a:t>not</a:t>
            </a:r>
            <a:r>
              <a:rPr lang="hu-HU" dirty="0"/>
              <a:t> </a:t>
            </a:r>
            <a:r>
              <a:rPr lang="hu-HU" dirty="0" err="1"/>
              <a:t>supported</a:t>
            </a:r>
            <a:r>
              <a:rPr lang="hu-HU" dirty="0"/>
              <a:t>-&gt;hidrogén, ‚--’-&gt;LPG)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clean_title</a:t>
            </a:r>
            <a:r>
              <a:rPr lang="hu-HU" dirty="0"/>
              <a:t> (üres-&gt;no)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accident</a:t>
            </a:r>
            <a:r>
              <a:rPr lang="hu-HU" dirty="0"/>
              <a:t>(üres-&gt;</a:t>
            </a:r>
            <a:r>
              <a:rPr lang="hu-HU" dirty="0" err="1"/>
              <a:t>None</a:t>
            </a:r>
            <a:r>
              <a:rPr lang="hu-HU" dirty="0"/>
              <a:t> </a:t>
            </a:r>
            <a:r>
              <a:rPr lang="hu-HU" dirty="0" err="1"/>
              <a:t>reported</a:t>
            </a:r>
            <a:r>
              <a:rPr lang="hu-HU" dirty="0"/>
              <a:t>)</a:t>
            </a:r>
          </a:p>
          <a:p>
            <a:r>
              <a:rPr lang="hu-HU" b="1" dirty="0"/>
              <a:t>Megfelelő formára alakítás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mileage</a:t>
            </a:r>
            <a:r>
              <a:rPr lang="hu-HU" dirty="0"/>
              <a:t> (20.000mi. -&gt; 20000)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price</a:t>
            </a:r>
            <a:r>
              <a:rPr lang="hu-HU" dirty="0"/>
              <a:t>  ($6.000 -&gt; 6000)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transmission</a:t>
            </a:r>
            <a:r>
              <a:rPr lang="hu-HU" dirty="0"/>
              <a:t>  (</a:t>
            </a:r>
            <a:r>
              <a:rPr lang="hu-HU" dirty="0" err="1"/>
              <a:t>mapping-val</a:t>
            </a:r>
            <a:r>
              <a:rPr lang="hu-HU" dirty="0"/>
              <a:t>  A/T -&gt; </a:t>
            </a:r>
            <a:r>
              <a:rPr lang="hu-HU" dirty="0" err="1"/>
              <a:t>Automatic</a:t>
            </a:r>
            <a:r>
              <a:rPr lang="hu-HU" dirty="0"/>
              <a:t> stb.)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engine_displacement</a:t>
            </a:r>
            <a:r>
              <a:rPr lang="hu-HU" dirty="0"/>
              <a:t> (200HP 1.9 TDI -&gt; 1.9)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horsepower</a:t>
            </a:r>
            <a:r>
              <a:rPr lang="hu-HU" dirty="0"/>
              <a:t> (200HP 1.9  TDI -&gt; 200)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int_col</a:t>
            </a:r>
            <a:r>
              <a:rPr lang="hu-HU" dirty="0"/>
              <a:t>, </a:t>
            </a:r>
            <a:r>
              <a:rPr lang="hu-HU" dirty="0" err="1"/>
              <a:t>ext_col</a:t>
            </a:r>
            <a:r>
              <a:rPr lang="hu-HU" dirty="0"/>
              <a:t> (</a:t>
            </a:r>
            <a:r>
              <a:rPr lang="hu-HU" dirty="0" err="1"/>
              <a:t>Saddle</a:t>
            </a:r>
            <a:r>
              <a:rPr lang="hu-HU" dirty="0"/>
              <a:t> Brown -&gt; </a:t>
            </a:r>
            <a:r>
              <a:rPr lang="hu-HU" dirty="0" err="1"/>
              <a:t>brown</a:t>
            </a:r>
            <a:r>
              <a:rPr lang="hu-HU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age</a:t>
            </a:r>
            <a:r>
              <a:rPr lang="hu-HU" dirty="0"/>
              <a:t> (2012 -&gt; 12)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base_model</a:t>
            </a:r>
            <a:r>
              <a:rPr lang="hu-HU" dirty="0"/>
              <a:t> (</a:t>
            </a:r>
            <a:r>
              <a:rPr lang="en-US" dirty="0"/>
              <a:t>Q3 45 S line Premium Plus</a:t>
            </a:r>
            <a:r>
              <a:rPr lang="hu-HU" dirty="0"/>
              <a:t> -&gt; Q3 45)</a:t>
            </a:r>
          </a:p>
        </p:txBody>
      </p:sp>
    </p:spTree>
    <p:extLst>
      <p:ext uri="{BB962C8B-B14F-4D97-AF65-F5344CB8AC3E}">
        <p14:creationId xmlns:p14="http://schemas.microsoft.com/office/powerpoint/2010/main" val="119827014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DD431-6AA9-8467-E949-433140ECF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7D19B308-7784-6304-C1FB-58A8517DE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/>
              <a:t>Adatelőkészítés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F4413E5-B784-CD48-49B6-B85957FEDE7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2"/>
            <a:ext cx="8140588" cy="2907957"/>
          </a:xfrm>
        </p:spPr>
        <p:txBody>
          <a:bodyPr/>
          <a:lstStyle/>
          <a:p>
            <a:r>
              <a:rPr lang="hu-HU" b="1" dirty="0"/>
              <a:t>Adatok taníthatóvá tétele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Price </a:t>
            </a:r>
            <a:r>
              <a:rPr lang="hu-HU" dirty="0" err="1"/>
              <a:t>célváltózó</a:t>
            </a:r>
            <a:r>
              <a:rPr lang="hu-HU" dirty="0"/>
              <a:t> normalizálása [log10(</a:t>
            </a:r>
            <a:r>
              <a:rPr lang="hu-HU" dirty="0" err="1"/>
              <a:t>price</a:t>
            </a:r>
            <a:r>
              <a:rPr lang="hu-HU" dirty="0"/>
              <a:t>)]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Kategorikus változók </a:t>
            </a:r>
            <a:r>
              <a:rPr lang="hu-HU" dirty="0" err="1"/>
              <a:t>Label_encoder</a:t>
            </a:r>
            <a:r>
              <a:rPr lang="hu-HU" dirty="0"/>
              <a:t>, </a:t>
            </a:r>
            <a:r>
              <a:rPr lang="hu-HU" dirty="0" err="1"/>
              <a:t>Binary_encoder</a:t>
            </a: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Outlierek</a:t>
            </a:r>
            <a:r>
              <a:rPr lang="hu-HU" dirty="0"/>
              <a:t> kezelése (</a:t>
            </a:r>
            <a:r>
              <a:rPr lang="hu-HU" dirty="0" err="1"/>
              <a:t>mileage</a:t>
            </a:r>
            <a:r>
              <a:rPr lang="hu-HU" dirty="0"/>
              <a:t>, </a:t>
            </a:r>
            <a:r>
              <a:rPr lang="hu-HU" dirty="0" err="1"/>
              <a:t>price</a:t>
            </a:r>
            <a:r>
              <a:rPr lang="hu-HU" dirty="0"/>
              <a:t>, </a:t>
            </a:r>
            <a:r>
              <a:rPr lang="hu-HU" dirty="0" err="1"/>
              <a:t>age</a:t>
            </a:r>
            <a:r>
              <a:rPr lang="hu-HU" dirty="0"/>
              <a:t>, </a:t>
            </a:r>
            <a:r>
              <a:rPr lang="hu-HU" dirty="0" err="1"/>
              <a:t>horsepower</a:t>
            </a:r>
            <a:r>
              <a:rPr lang="hu-HU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Feature</a:t>
            </a:r>
            <a:r>
              <a:rPr lang="hu-HU" dirty="0"/>
              <a:t>-k </a:t>
            </a:r>
            <a:r>
              <a:rPr lang="hu-HU" dirty="0" err="1"/>
              <a:t>dropolása</a:t>
            </a:r>
            <a:r>
              <a:rPr lang="hu-HU" dirty="0"/>
              <a:t>:</a:t>
            </a:r>
          </a:p>
          <a:p>
            <a:pPr marL="1028700" lvl="1" indent="-342900">
              <a:buFont typeface="Courier New" panose="02070309020205020404" pitchFamily="49" charset="0"/>
              <a:buChar char="o"/>
            </a:pPr>
            <a:r>
              <a:rPr lang="hu-HU" sz="1700" dirty="0" err="1">
                <a:solidFill>
                  <a:schemeClr val="bg1"/>
                </a:solidFill>
              </a:rPr>
              <a:t>clean_title</a:t>
            </a:r>
            <a:r>
              <a:rPr lang="hu-HU" sz="1700" dirty="0">
                <a:solidFill>
                  <a:schemeClr val="bg1"/>
                </a:solidFill>
              </a:rPr>
              <a:t> (nagyon </a:t>
            </a:r>
            <a:r>
              <a:rPr lang="hu-HU" sz="1700" dirty="0" err="1">
                <a:solidFill>
                  <a:schemeClr val="bg1"/>
                </a:solidFill>
              </a:rPr>
              <a:t>alulreprezentált</a:t>
            </a:r>
            <a:r>
              <a:rPr lang="hu-HU" sz="1700" dirty="0">
                <a:solidFill>
                  <a:schemeClr val="bg1"/>
                </a:solidFill>
              </a:rPr>
              <a:t>, </a:t>
            </a:r>
            <a:r>
              <a:rPr lang="hu-HU" sz="1700" dirty="0" err="1">
                <a:solidFill>
                  <a:schemeClr val="bg1"/>
                </a:solidFill>
              </a:rPr>
              <a:t>yes</a:t>
            </a:r>
            <a:r>
              <a:rPr lang="hu-HU" sz="1700" dirty="0">
                <a:solidFill>
                  <a:schemeClr val="bg1"/>
                </a:solidFill>
              </a:rPr>
              <a:t>: 3413, no: 596, emiatt bát magas a </a:t>
            </a:r>
            <a:r>
              <a:rPr lang="hu-HU" sz="1700" dirty="0" err="1">
                <a:solidFill>
                  <a:schemeClr val="bg1"/>
                </a:solidFill>
              </a:rPr>
              <a:t>price-al</a:t>
            </a:r>
            <a:r>
              <a:rPr lang="hu-HU" sz="1700" dirty="0">
                <a:solidFill>
                  <a:schemeClr val="bg1"/>
                </a:solidFill>
              </a:rPr>
              <a:t> korrelált értéke, kicsit lesz a </a:t>
            </a:r>
            <a:r>
              <a:rPr lang="hu-HU" sz="1700" dirty="0" err="1">
                <a:solidFill>
                  <a:schemeClr val="bg1"/>
                </a:solidFill>
              </a:rPr>
              <a:t>feature</a:t>
            </a:r>
            <a:r>
              <a:rPr lang="hu-HU" sz="1700" dirty="0">
                <a:solidFill>
                  <a:schemeClr val="bg1"/>
                </a:solidFill>
              </a:rPr>
              <a:t> </a:t>
            </a:r>
            <a:r>
              <a:rPr lang="hu-HU" sz="1700" dirty="0" err="1">
                <a:solidFill>
                  <a:schemeClr val="bg1"/>
                </a:solidFill>
              </a:rPr>
              <a:t>importance</a:t>
            </a:r>
            <a:r>
              <a:rPr lang="hu-HU" sz="1700" dirty="0">
                <a:solidFill>
                  <a:schemeClr val="bg1"/>
                </a:solidFill>
              </a:rPr>
              <a:t>)</a:t>
            </a:r>
            <a:endParaRPr lang="hu-HU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FDE60FB-1A0A-C9AC-5F9A-17ED8BE40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248" y="158545"/>
            <a:ext cx="2077236" cy="157156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B3B7631-4C46-1A49-729F-29E2EBB55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248" y="1811093"/>
            <a:ext cx="2077234" cy="1571568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97FDB9A-BCF2-11A4-A3DB-54F2395D0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124" y="3126341"/>
            <a:ext cx="2077235" cy="1267629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3A1DEB57-1FBC-9728-A599-AE3908256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30" y="3137956"/>
            <a:ext cx="3862982" cy="9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575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4CCCF-395C-740B-A938-668791BC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39D249A4-8FC4-154B-C646-B4BFEFDF2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/>
              <a:t>Adatelőkészítés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206F14C-E9B7-5E6C-1FD8-FF0A08954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3"/>
            <a:ext cx="3206510" cy="601362"/>
          </a:xfrm>
        </p:spPr>
        <p:txBody>
          <a:bodyPr/>
          <a:lstStyle/>
          <a:p>
            <a:r>
              <a:rPr lang="hu-HU" b="1" dirty="0" err="1"/>
              <a:t>Correlation</a:t>
            </a:r>
            <a:r>
              <a:rPr lang="hu-HU" b="1" dirty="0"/>
              <a:t> </a:t>
            </a:r>
            <a:r>
              <a:rPr lang="hu-HU" b="1" dirty="0" err="1"/>
              <a:t>heatmap</a:t>
            </a:r>
            <a:endParaRPr lang="hu-HU" dirty="0"/>
          </a:p>
          <a:p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4EDF090-7CE6-0686-7C07-2A0BC0ADD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735" y="1263405"/>
            <a:ext cx="5206479" cy="545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9547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0F82A-080E-54FA-4CC0-A4A5D228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CE82809B-57E5-561D-5CE6-52337D339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/>
              <a:t>Modellezés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EB1F129-22F6-12DC-63CA-EB9C42ED944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2"/>
            <a:ext cx="8140588" cy="2907957"/>
          </a:xfrm>
        </p:spPr>
        <p:txBody>
          <a:bodyPr/>
          <a:lstStyle/>
          <a:p>
            <a:r>
              <a:rPr lang="hu-HU" b="1" dirty="0"/>
              <a:t>Modell teljesítmények összehasonlítása (</a:t>
            </a:r>
            <a:r>
              <a:rPr lang="hu-HU" b="1" dirty="0" err="1"/>
              <a:t>hiperparaméterezés</a:t>
            </a:r>
            <a:r>
              <a:rPr lang="hu-HU" b="1" dirty="0"/>
              <a:t> nélkül):</a:t>
            </a:r>
          </a:p>
          <a:p>
            <a:endParaRPr lang="hu-HU" b="1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228146B-BB4E-4B51-45A1-BB31E5B0D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18" y="2103921"/>
            <a:ext cx="5918070" cy="317382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B3F3AD8-01DB-BE22-211A-94E27E452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321" y="2103921"/>
            <a:ext cx="1866996" cy="9716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11AE869-25BA-70A0-E583-1EC70AD3C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513" y="3266681"/>
            <a:ext cx="1047804" cy="113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0844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F13BA-1FFA-6F25-24A4-9DEF070FB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34A1DCE9-002B-B72C-DD44-ED2BD3AB1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/>
              <a:t>Modellezés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2EC2B2C-7894-9BF2-713C-F6487C1C049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2"/>
            <a:ext cx="8140588" cy="2907957"/>
          </a:xfrm>
        </p:spPr>
        <p:txBody>
          <a:bodyPr/>
          <a:lstStyle/>
          <a:p>
            <a:r>
              <a:rPr lang="hu-HU" b="1" dirty="0" err="1"/>
              <a:t>XGBRegressor</a:t>
            </a:r>
            <a:endParaRPr lang="hu-HU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2. helyezett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Kezdetben nagy mértékű overfitting (a kiegyensúlyozatlan </a:t>
            </a:r>
            <a:r>
              <a:rPr lang="hu-HU" dirty="0" err="1"/>
              <a:t>df</a:t>
            </a:r>
            <a:r>
              <a:rPr lang="hu-HU" dirty="0"/>
              <a:t> miatt)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Standard </a:t>
            </a:r>
            <a:r>
              <a:rPr lang="hu-HU" dirty="0" err="1"/>
              <a:t>scaler</a:t>
            </a:r>
            <a:r>
              <a:rPr lang="hu-HU" dirty="0"/>
              <a:t> használata az overfitting csökkentése végett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Grid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 segítségével a </a:t>
            </a:r>
            <a:r>
              <a:rPr lang="hu-HU" dirty="0" err="1"/>
              <a:t>hiperparaméterek</a:t>
            </a:r>
            <a:r>
              <a:rPr lang="hu-HU" dirty="0"/>
              <a:t> finomhangolása (</a:t>
            </a:r>
            <a:r>
              <a:rPr lang="hu-HU" dirty="0" err="1"/>
              <a:t>neg_mean_squared_error</a:t>
            </a:r>
            <a:r>
              <a:rPr lang="hu-HU" dirty="0"/>
              <a:t> alapján)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Overfitting további csökkentése </a:t>
            </a:r>
            <a:r>
              <a:rPr lang="hu-HU" dirty="0" err="1"/>
              <a:t>validation</a:t>
            </a:r>
            <a:r>
              <a:rPr lang="hu-HU" dirty="0"/>
              <a:t> </a:t>
            </a:r>
            <a:r>
              <a:rPr lang="hu-HU" dirty="0" err="1"/>
              <a:t>curve</a:t>
            </a:r>
            <a:r>
              <a:rPr lang="hu-HU" dirty="0"/>
              <a:t>, </a:t>
            </a:r>
            <a:r>
              <a:rPr lang="hu-HU" dirty="0" err="1"/>
              <a:t>ridge</a:t>
            </a:r>
            <a:r>
              <a:rPr lang="hu-HU" dirty="0"/>
              <a:t> és </a:t>
            </a:r>
            <a:r>
              <a:rPr lang="hu-HU" dirty="0" err="1"/>
              <a:t>lasso</a:t>
            </a:r>
            <a:r>
              <a:rPr lang="hu-HU" dirty="0"/>
              <a:t> </a:t>
            </a:r>
            <a:r>
              <a:rPr lang="hu-HU" dirty="0" err="1"/>
              <a:t>regularizáció</a:t>
            </a:r>
            <a:r>
              <a:rPr lang="hu-HU" dirty="0"/>
              <a:t> segítségével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Végezetül a legjobb paraméterek: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hu-HU" dirty="0"/>
          </a:p>
          <a:p>
            <a:endParaRPr lang="hu-HU" b="1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064708F-5EDA-91AA-8F51-6543E9D4D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835" y="148701"/>
            <a:ext cx="2522271" cy="190484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B2015AFB-0CE3-CAE3-1CB1-A0C6C83A0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10" y="4495276"/>
            <a:ext cx="2793816" cy="229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055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FFEDF-7A6C-EFC9-379E-7153A7446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E66E77BD-F664-CA55-F110-2D4B94ADA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/>
              <a:t>Modellezés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6104507-799C-464C-321A-77BF70AFEA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2"/>
            <a:ext cx="8140588" cy="2907957"/>
          </a:xfrm>
        </p:spPr>
        <p:txBody>
          <a:bodyPr/>
          <a:lstStyle/>
          <a:p>
            <a:r>
              <a:rPr lang="hu-HU" b="1" dirty="0" err="1"/>
              <a:t>XGBRegressor</a:t>
            </a: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Modell pontszámai, és </a:t>
            </a:r>
            <a:r>
              <a:rPr lang="hu-HU" dirty="0" err="1"/>
              <a:t>learning</a:t>
            </a:r>
            <a:r>
              <a:rPr lang="hu-HU" dirty="0"/>
              <a:t> </a:t>
            </a:r>
            <a:r>
              <a:rPr lang="hu-HU" dirty="0" err="1"/>
              <a:t>curve</a:t>
            </a:r>
            <a:r>
              <a:rPr lang="hu-HU" dirty="0"/>
              <a:t>-je: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hu-HU" b="1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A563A70F-8AB8-DE8D-CF8D-91BC4FEA4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475" y="1137503"/>
            <a:ext cx="3390618" cy="1072636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94B874B-A4FF-A804-CD75-161533784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350" y="2685599"/>
            <a:ext cx="5224042" cy="331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9025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D463F-5E2E-88F4-6E15-91EA295F5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814FD10F-C1A4-7751-EA1E-DAC3A68B4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/>
              <a:t>Modellezés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328DEC4-4F10-40C7-FCD7-BAA04C47AB4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2"/>
            <a:ext cx="8140588" cy="2907957"/>
          </a:xfrm>
        </p:spPr>
        <p:txBody>
          <a:bodyPr/>
          <a:lstStyle/>
          <a:p>
            <a:r>
              <a:rPr lang="hu-HU" b="1" dirty="0" err="1"/>
              <a:t>CatBoostRegressor</a:t>
            </a:r>
            <a:endParaRPr lang="hu-HU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1. helyezett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Beépített kategória kezelés (nincs szükség </a:t>
            </a:r>
            <a:r>
              <a:rPr lang="hu-HU" dirty="0" err="1"/>
              <a:t>label_encoderre</a:t>
            </a:r>
            <a:r>
              <a:rPr lang="hu-HU" dirty="0"/>
              <a:t>, </a:t>
            </a:r>
            <a:r>
              <a:rPr lang="hu-HU" dirty="0" err="1"/>
              <a:t>binary_encodert</a:t>
            </a:r>
            <a:r>
              <a:rPr lang="hu-HU" dirty="0"/>
              <a:t> (</a:t>
            </a:r>
            <a:r>
              <a:rPr lang="hu-HU" dirty="0" err="1"/>
              <a:t>brand</a:t>
            </a:r>
            <a:r>
              <a:rPr lang="hu-HU" dirty="0"/>
              <a:t>) megtartottam a sok kategória miatt)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Ordered</a:t>
            </a:r>
            <a:r>
              <a:rPr lang="hu-HU" dirty="0"/>
              <a:t> </a:t>
            </a:r>
            <a:r>
              <a:rPr lang="hu-HU" dirty="0" err="1"/>
              <a:t>Boosting</a:t>
            </a:r>
            <a:r>
              <a:rPr lang="hu-HU" dirty="0"/>
              <a:t> technika úgy végez </a:t>
            </a:r>
            <a:r>
              <a:rPr lang="hu-HU" dirty="0" err="1"/>
              <a:t>target</a:t>
            </a:r>
            <a:r>
              <a:rPr lang="hu-HU" dirty="0"/>
              <a:t> </a:t>
            </a:r>
            <a:r>
              <a:rPr lang="hu-HU" dirty="0" err="1"/>
              <a:t>encodelást</a:t>
            </a:r>
            <a:r>
              <a:rPr lang="hu-HU" dirty="0"/>
              <a:t>, hogy közben minimalizálja a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leakage</a:t>
            </a:r>
            <a:r>
              <a:rPr lang="hu-HU" dirty="0"/>
              <a:t>-t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Beépített, automatikus </a:t>
            </a:r>
            <a:r>
              <a:rPr lang="hu-HU" dirty="0" err="1"/>
              <a:t>regularizációk</a:t>
            </a:r>
            <a:r>
              <a:rPr lang="hu-HU" dirty="0"/>
              <a:t> még jobban csökkentették az overfittinget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Grid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 segítségével a </a:t>
            </a:r>
            <a:r>
              <a:rPr lang="hu-HU" dirty="0" err="1"/>
              <a:t>hiperparaméterek</a:t>
            </a:r>
            <a:r>
              <a:rPr lang="hu-HU" dirty="0"/>
              <a:t> finomhangolása (</a:t>
            </a:r>
            <a:r>
              <a:rPr lang="hu-HU" dirty="0" err="1"/>
              <a:t>neg_mean_squared_error</a:t>
            </a:r>
            <a:r>
              <a:rPr lang="hu-HU" dirty="0"/>
              <a:t> alapján)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Végezetül a legjobb paraméterek, és pontszámok: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hu-HU" dirty="0"/>
          </a:p>
          <a:p>
            <a:endParaRPr lang="hu-HU" b="1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B61C84E-E13D-3EBC-B161-4FC6A5491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95" y="5343568"/>
            <a:ext cx="2677517" cy="1279138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7294E8F-62DE-31D7-27EC-4FF8F6A6C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467" y="5432638"/>
            <a:ext cx="3445064" cy="110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5166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F431-0F5A-7AE3-AA6A-418EA422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804BFC3F-EBEA-784D-A751-0A27FE49A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18" y="662043"/>
            <a:ext cx="8777575" cy="601362"/>
          </a:xfrm>
        </p:spPr>
        <p:txBody>
          <a:bodyPr/>
          <a:lstStyle/>
          <a:p>
            <a:r>
              <a:rPr lang="hu-HU" b="1" dirty="0" err="1"/>
              <a:t>Deploy</a:t>
            </a:r>
            <a:endParaRPr lang="hu-HU" b="1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AA33496-FC51-D300-6FDD-0647751EE4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6518" y="1425362"/>
            <a:ext cx="8140588" cy="2907957"/>
          </a:xfrm>
        </p:spPr>
        <p:txBody>
          <a:bodyPr/>
          <a:lstStyle/>
          <a:p>
            <a:r>
              <a:rPr lang="hu-HU" b="1" dirty="0" err="1"/>
              <a:t>Streamlit</a:t>
            </a:r>
            <a:endParaRPr lang="hu-HU" dirty="0"/>
          </a:p>
          <a:p>
            <a:endParaRPr lang="hu-HU" dirty="0"/>
          </a:p>
          <a:p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43151160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FF00-4778-5843-C6A6-1D9F97992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213" y="3154415"/>
            <a:ext cx="8777574" cy="549169"/>
          </a:xfrm>
        </p:spPr>
        <p:txBody>
          <a:bodyPr/>
          <a:lstStyle/>
          <a:p>
            <a:r>
              <a:rPr lang="hu-HU" dirty="0"/>
              <a:t>Köszönöm a figyelmet!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3B59A-9417-E998-DC6F-619640B3C5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05448" y="5860751"/>
            <a:ext cx="4333104" cy="717743"/>
          </a:xfrm>
        </p:spPr>
        <p:txBody>
          <a:bodyPr anchor="b" anchorCtr="0"/>
          <a:lstStyle/>
          <a:p>
            <a:r>
              <a:rPr lang="hu-HU" sz="1800" dirty="0"/>
              <a:t>Magyari Gergely</a:t>
            </a:r>
          </a:p>
        </p:txBody>
      </p:sp>
    </p:spTree>
    <p:extLst>
      <p:ext uri="{BB962C8B-B14F-4D97-AF65-F5344CB8AC3E}">
        <p14:creationId xmlns:p14="http://schemas.microsoft.com/office/powerpoint/2010/main" val="12203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2FB79DE149403C41850CB335D176941B" ma:contentTypeVersion="4" ma:contentTypeDescription="Új dokumentum létrehozása." ma:contentTypeScope="" ma:versionID="07eee9a658624dd6ba9a4bccc899cbf8">
  <xsd:schema xmlns:xsd="http://www.w3.org/2001/XMLSchema" xmlns:xs="http://www.w3.org/2001/XMLSchema" xmlns:p="http://schemas.microsoft.com/office/2006/metadata/properties" xmlns:ns2="080e35f1-3004-49e0-a90b-19e743598fe2" targetNamespace="http://schemas.microsoft.com/office/2006/metadata/properties" ma:root="true" ma:fieldsID="57ee5bf7dfb2328424e02cbf4473d5d2" ns2:_="">
    <xsd:import namespace="080e35f1-3004-49e0-a90b-19e743598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0e35f1-3004-49e0-a90b-19e743598f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C5A490-CF29-4F32-B5B5-23AB12524F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0e35f1-3004-49e0-a90b-19e743598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92DE76-62B5-49FE-880F-0A3FBC60AB87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BBA3A4B-F75D-46B7-A527-11F0509996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345</TotalTime>
  <Words>471</Words>
  <Application>Microsoft Office PowerPoint</Application>
  <PresentationFormat>Diavetítés a képernyőre (4:3 oldalarány)</PresentationFormat>
  <Paragraphs>81</Paragraphs>
  <Slides>11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Open Sans</vt:lpstr>
      <vt:lpstr>Open Sans Light</vt:lpstr>
      <vt:lpstr>Wingdings</vt:lpstr>
      <vt:lpstr>1_Office-téma</vt:lpstr>
      <vt:lpstr>Használt autó ár predikció</vt:lpstr>
      <vt:lpstr>Dataset bemutatása</vt:lpstr>
      <vt:lpstr>Adatelőkészítés</vt:lpstr>
      <vt:lpstr>Adatelőkészítés</vt:lpstr>
      <vt:lpstr>Adatelőkészítés</vt:lpstr>
      <vt:lpstr>Modellezés</vt:lpstr>
      <vt:lpstr>Modellezés</vt:lpstr>
      <vt:lpstr>Modellezés</vt:lpstr>
      <vt:lpstr>Modellezés</vt:lpstr>
      <vt:lpstr>Deploy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Árgyelán Mária</dc:creator>
  <cp:lastModifiedBy>Magyari Gergely</cp:lastModifiedBy>
  <cp:revision>17</cp:revision>
  <dcterms:created xsi:type="dcterms:W3CDTF">2022-03-25T09:59:45Z</dcterms:created>
  <dcterms:modified xsi:type="dcterms:W3CDTF">2024-12-11T17:53:21Z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0x0101000119D549A551764F9CD289D588F50CD1</vt:lpwstr>
  </property>
</Properties>
</file>